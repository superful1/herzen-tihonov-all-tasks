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61" r:id="rId3"/>
    <p:sldId id="257" r:id="rId4"/>
    <p:sldId id="258" r:id="rId5"/>
    <p:sldId id="259" r:id="rId6"/>
    <p:sldId id="260" r:id="rId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2" cstate="print"/>
          <a:srcRect t="33333"/>
          <a:stretch>
            <a:fillRect/>
          </a:stretch>
        </p:blipFill>
        <p:spPr>
          <a:xfrm>
            <a:off x="0" y="0"/>
            <a:ext cx="9144000" cy="4572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02.12.2022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17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007888"/>
            <a:ext cx="7772400" cy="1470025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02.12.2022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7924800" cy="41148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62525"/>
            <a:ext cx="7885113" cy="1362075"/>
          </a:xfrm>
        </p:spPr>
        <p:txBody>
          <a:bodyPr anchor="t"/>
          <a:lstStyle>
            <a:lvl1pPr algn="l">
              <a:defRPr sz="3200" b="0" i="0" cap="all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462338"/>
            <a:ext cx="7885113" cy="1500187"/>
          </a:xfrm>
        </p:spPr>
        <p:txBody>
          <a:bodyPr anchor="b">
            <a:normAutofit/>
          </a:bodyPr>
          <a:lstStyle>
            <a:lvl1pPr marL="0" indent="0">
              <a:buNone/>
              <a:defRPr sz="170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02.12.2022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3733800" cy="4114800"/>
          </a:xfrm>
        </p:spPr>
        <p:txBody>
          <a:bodyPr/>
          <a:lstStyle>
            <a:lvl5pPr>
              <a:defRPr/>
            </a:lvl5pPr>
            <a:lvl6pPr>
              <a:buClr>
                <a:schemeClr val="tx2"/>
              </a:buClr>
              <a:buFont typeface="Arial" pitchFamily="34" charset="0"/>
              <a:buChar char="•"/>
              <a:defRPr/>
            </a:lvl6pPr>
            <a:lvl7pPr>
              <a:buClr>
                <a:schemeClr val="tx2"/>
              </a:buClr>
              <a:buFont typeface="Arial" pitchFamily="34" charset="0"/>
              <a:buChar char="•"/>
              <a:defRPr/>
            </a:lvl7pPr>
            <a:lvl8pPr>
              <a:buClr>
                <a:schemeClr val="tx2"/>
              </a:buClr>
              <a:buFont typeface="Arial" pitchFamily="34" charset="0"/>
              <a:buChar char="•"/>
              <a:defRPr/>
            </a:lvl8pPr>
            <a:lvl9pPr>
              <a:buClr>
                <a:schemeClr val="tx2"/>
              </a:buClr>
              <a:buFont typeface="Arial" pitchFamily="34" charset="0"/>
              <a:buChar char="•"/>
              <a:defRPr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600200"/>
            <a:ext cx="3733800" cy="41148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02.12.2022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02.12.2022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02.12.2022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02.12.2022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962400" y="1447800"/>
            <a:ext cx="4648200" cy="4267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2648" y="2547891"/>
            <a:ext cx="2971800" cy="3167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02.12.2022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orizo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657344" y="1447800"/>
            <a:ext cx="3419856" cy="3474720"/>
          </a:xfrm>
          <a:custGeom>
            <a:avLst/>
            <a:gdLst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74450 w 3419856"/>
              <a:gd name="connsiteY9" fmla="*/ 3429000 h 3429000"/>
              <a:gd name="connsiteX10" fmla="*/ 21806 w 3419856"/>
              <a:gd name="connsiteY10" fmla="*/ 3407194 h 3429000"/>
              <a:gd name="connsiteX11" fmla="*/ 0 w 3419856"/>
              <a:gd name="connsiteY11" fmla="*/ 3354550 h 3429000"/>
              <a:gd name="connsiteX12" fmla="*/ 0 w 3419856"/>
              <a:gd name="connsiteY12" fmla="*/ 74450 h 3429000"/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21806 w 3419856"/>
              <a:gd name="connsiteY9" fmla="*/ 3407194 h 3429000"/>
              <a:gd name="connsiteX10" fmla="*/ 0 w 3419856"/>
              <a:gd name="connsiteY10" fmla="*/ 3354550 h 3429000"/>
              <a:gd name="connsiteX11" fmla="*/ 0 w 3419856"/>
              <a:gd name="connsiteY11" fmla="*/ 74450 h 3429000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8026"/>
              <a:gd name="connsiteY0" fmla="*/ 74450 h 3910007"/>
              <a:gd name="connsiteX1" fmla="*/ 21806 w 3968026"/>
              <a:gd name="connsiteY1" fmla="*/ 21806 h 3910007"/>
              <a:gd name="connsiteX2" fmla="*/ 74450 w 3968026"/>
              <a:gd name="connsiteY2" fmla="*/ 0 h 3910007"/>
              <a:gd name="connsiteX3" fmla="*/ 3345406 w 3968026"/>
              <a:gd name="connsiteY3" fmla="*/ 0 h 3910007"/>
              <a:gd name="connsiteX4" fmla="*/ 3398050 w 3968026"/>
              <a:gd name="connsiteY4" fmla="*/ 21806 h 3910007"/>
              <a:gd name="connsiteX5" fmla="*/ 3419856 w 3968026"/>
              <a:gd name="connsiteY5" fmla="*/ 74450 h 3910007"/>
              <a:gd name="connsiteX6" fmla="*/ 3419856 w 3968026"/>
              <a:gd name="connsiteY6" fmla="*/ 3354550 h 3910007"/>
              <a:gd name="connsiteX7" fmla="*/ 3398050 w 3968026"/>
              <a:gd name="connsiteY7" fmla="*/ 3407194 h 3910007"/>
              <a:gd name="connsiteX8" fmla="*/ 0 w 3968026"/>
              <a:gd name="connsiteY8" fmla="*/ 3354550 h 3910007"/>
              <a:gd name="connsiteX9" fmla="*/ 0 w 3968026"/>
              <a:gd name="connsiteY9" fmla="*/ 74450 h 3910007"/>
              <a:gd name="connsiteX0" fmla="*/ 0 w 3419856"/>
              <a:gd name="connsiteY0" fmla="*/ 74450 h 3901233"/>
              <a:gd name="connsiteX1" fmla="*/ 21806 w 3419856"/>
              <a:gd name="connsiteY1" fmla="*/ 21806 h 3901233"/>
              <a:gd name="connsiteX2" fmla="*/ 74450 w 3419856"/>
              <a:gd name="connsiteY2" fmla="*/ 0 h 3901233"/>
              <a:gd name="connsiteX3" fmla="*/ 3345406 w 3419856"/>
              <a:gd name="connsiteY3" fmla="*/ 0 h 3901233"/>
              <a:gd name="connsiteX4" fmla="*/ 3398050 w 3419856"/>
              <a:gd name="connsiteY4" fmla="*/ 21806 h 3901233"/>
              <a:gd name="connsiteX5" fmla="*/ 3419856 w 3419856"/>
              <a:gd name="connsiteY5" fmla="*/ 74450 h 3901233"/>
              <a:gd name="connsiteX6" fmla="*/ 3419856 w 3419856"/>
              <a:gd name="connsiteY6" fmla="*/ 3354550 h 3901233"/>
              <a:gd name="connsiteX7" fmla="*/ 0 w 3419856"/>
              <a:gd name="connsiteY7" fmla="*/ 3354550 h 3901233"/>
              <a:gd name="connsiteX8" fmla="*/ 0 w 3419856"/>
              <a:gd name="connsiteY8" fmla="*/ 74450 h 3901233"/>
              <a:gd name="connsiteX0" fmla="*/ 0 w 3419856"/>
              <a:gd name="connsiteY0" fmla="*/ 74450 h 3354550"/>
              <a:gd name="connsiteX1" fmla="*/ 21806 w 3419856"/>
              <a:gd name="connsiteY1" fmla="*/ 21806 h 3354550"/>
              <a:gd name="connsiteX2" fmla="*/ 74450 w 3419856"/>
              <a:gd name="connsiteY2" fmla="*/ 0 h 3354550"/>
              <a:gd name="connsiteX3" fmla="*/ 3345406 w 3419856"/>
              <a:gd name="connsiteY3" fmla="*/ 0 h 3354550"/>
              <a:gd name="connsiteX4" fmla="*/ 3398050 w 3419856"/>
              <a:gd name="connsiteY4" fmla="*/ 21806 h 3354550"/>
              <a:gd name="connsiteX5" fmla="*/ 3419856 w 3419856"/>
              <a:gd name="connsiteY5" fmla="*/ 74450 h 3354550"/>
              <a:gd name="connsiteX6" fmla="*/ 3419856 w 3419856"/>
              <a:gd name="connsiteY6" fmla="*/ 3354550 h 3354550"/>
              <a:gd name="connsiteX7" fmla="*/ 0 w 3419856"/>
              <a:gd name="connsiteY7" fmla="*/ 3354550 h 3354550"/>
              <a:gd name="connsiteX8" fmla="*/ 0 w 3419856"/>
              <a:gd name="connsiteY8" fmla="*/ 74450 h 335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9856" h="3354550">
                <a:moveTo>
                  <a:pt x="0" y="74450"/>
                </a:moveTo>
                <a:cubicBezTo>
                  <a:pt x="0" y="54705"/>
                  <a:pt x="7844" y="35768"/>
                  <a:pt x="21806" y="21806"/>
                </a:cubicBezTo>
                <a:cubicBezTo>
                  <a:pt x="35768" y="7844"/>
                  <a:pt x="54705" y="0"/>
                  <a:pt x="74450" y="0"/>
                </a:cubicBezTo>
                <a:lnTo>
                  <a:pt x="3345406" y="0"/>
                </a:lnTo>
                <a:cubicBezTo>
                  <a:pt x="3365151" y="0"/>
                  <a:pt x="3384088" y="7844"/>
                  <a:pt x="3398050" y="21806"/>
                </a:cubicBezTo>
                <a:cubicBezTo>
                  <a:pt x="3412012" y="35768"/>
                  <a:pt x="3419856" y="54705"/>
                  <a:pt x="3419856" y="74450"/>
                </a:cubicBezTo>
                <a:lnTo>
                  <a:pt x="3419856" y="3354550"/>
                </a:lnTo>
                <a:lnTo>
                  <a:pt x="0" y="3354550"/>
                </a:lnTo>
                <a:lnTo>
                  <a:pt x="0" y="7445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547890"/>
            <a:ext cx="2971800" cy="2405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02.12.2022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02.12.2022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02.12.2022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7924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15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trike="noStrike" spc="60" baseline="0">
                <a:solidFill>
                  <a:schemeClr val="tx1"/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02.12.2022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60" baseline="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356350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00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endParaRPr lang="ru-RU" sz="1600" dirty="0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Математические модели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8823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ru-RU" sz="1800" dirty="0"/>
              <a:t>Отличительной особенностью математических моделей, создаваемых в настоящее время, является их комплексность, связанная со сложностью моделируемых объектов. Это приводит к усложнению модели и необходимости совместного использования нескольких теорий из разных областей знания, применения современных вычислительных методов и вычислительной техники для получения и анализа результатов моделирования. В случае сложных объектов удовлетворить всем предъявляемым требованиям в одной модели обычно невозможно. Приходится создавать целый спектр моделей одного и того же объекта (в некоторых случаях — иерархическую совокупность «вложенных» одна в другую моделей), каждая из которых наиболее эффективно решает возложенные на нее задачи.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30694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С точки зрения математики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С точки зрения математики математическая модель по определению </a:t>
            </a:r>
            <a:r>
              <a:rPr lang="ru-RU" sz="2800" dirty="0"/>
              <a:t>это математическое представление реальности, один из вариантов модели как системы, исследование которой позволяет получать информацию </a:t>
            </a:r>
            <a:r>
              <a:rPr lang="ru-RU" sz="2800" dirty="0" smtClean="0"/>
              <a:t>о </a:t>
            </a:r>
            <a:r>
              <a:rPr lang="ru-RU" sz="2800" dirty="0"/>
              <a:t>некоторой другой системе.</a:t>
            </a:r>
            <a:r>
              <a:rPr lang="en-US" sz="2800" dirty="0" smtClean="0"/>
              <a:t>, </a:t>
            </a:r>
            <a:r>
              <a:rPr lang="ru-RU" sz="2800" dirty="0" smtClean="0"/>
              <a:t>например</a:t>
            </a:r>
            <a:r>
              <a:rPr lang="en-US" sz="2800" dirty="0" smtClean="0"/>
              <a:t>, </a:t>
            </a:r>
            <a:r>
              <a:rPr lang="ru-RU" sz="2800" dirty="0" smtClean="0"/>
              <a:t>уравнение описывающее какую либо зависимость. Отличается от других тем что мы не видим сам моделируемый объект</a:t>
            </a:r>
            <a:r>
              <a:rPr lang="en-US" sz="2800" dirty="0" smtClean="0"/>
              <a:t>, </a:t>
            </a:r>
            <a:r>
              <a:rPr lang="ru-RU" sz="2800" dirty="0" smtClean="0"/>
              <a:t>а только его математическое описание</a:t>
            </a:r>
            <a:endParaRPr lang="ru-RU" sz="2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5589240"/>
            <a:ext cx="4369640" cy="1006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3842212" y="5622244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Пример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3015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С точки зрения систем компьютерной алгебры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Системы </a:t>
            </a:r>
            <a:r>
              <a:rPr lang="ru-RU" sz="2800" dirty="0"/>
              <a:t>компьютерной алгебры – </a:t>
            </a:r>
            <a:r>
              <a:rPr lang="ru-RU" sz="2800" dirty="0" smtClean="0"/>
              <a:t>это </a:t>
            </a:r>
            <a:r>
              <a:rPr lang="ru-RU" sz="2800" dirty="0"/>
              <a:t>прикладная программа для символьных вычислений, то есть выполнения преобразований и работы с математическими выражениями в аналитической (символьной) форме. </a:t>
            </a:r>
            <a:r>
              <a:rPr lang="ru-RU" sz="2800" dirty="0" smtClean="0"/>
              <a:t>То есть СКА могут работать с уравнение на более глубоком </a:t>
            </a:r>
            <a:r>
              <a:rPr lang="ru-RU" sz="2800" dirty="0" err="1" smtClean="0"/>
              <a:t>уравне</a:t>
            </a:r>
            <a:r>
              <a:rPr lang="ru-RU" sz="2800" dirty="0" smtClean="0"/>
              <a:t> и</a:t>
            </a:r>
            <a:r>
              <a:rPr lang="en-US" sz="2800" dirty="0" smtClean="0"/>
              <a:t>, </a:t>
            </a:r>
            <a:r>
              <a:rPr lang="ru-RU" sz="2800" dirty="0" smtClean="0"/>
              <a:t>например</a:t>
            </a:r>
            <a:r>
              <a:rPr lang="en-US" sz="2800" dirty="0" smtClean="0"/>
              <a:t>, </a:t>
            </a:r>
            <a:r>
              <a:rPr lang="ru-RU" sz="2800" dirty="0" smtClean="0"/>
              <a:t>построить точный график функции</a:t>
            </a:r>
            <a:r>
              <a:rPr lang="en-US" sz="2800" dirty="0" smtClean="0"/>
              <a:t>, </a:t>
            </a:r>
            <a:r>
              <a:rPr lang="ru-RU" sz="2800" dirty="0" smtClean="0"/>
              <a:t>3</a:t>
            </a:r>
            <a:r>
              <a:rPr lang="en-US" sz="2800" dirty="0" smtClean="0"/>
              <a:t>D </a:t>
            </a:r>
            <a:r>
              <a:rPr lang="ru-RU" sz="2800" dirty="0" smtClean="0"/>
              <a:t>модель. Отличается от других </a:t>
            </a:r>
            <a:r>
              <a:rPr lang="ru-RU" sz="2800" dirty="0" err="1" smtClean="0"/>
              <a:t>своеё</a:t>
            </a:r>
            <a:r>
              <a:rPr lang="ru-RU" sz="2800" dirty="0" smtClean="0"/>
              <a:t> направленностью и проработанностью именно в этой сфере.</a:t>
            </a:r>
            <a:endParaRPr lang="ru-RU" sz="2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812800"/>
            <a:ext cx="8750300" cy="523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3356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С точки зрения языков программирования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На языках программирования в современном мире строится очень многое</a:t>
            </a:r>
            <a:r>
              <a:rPr lang="en-US" sz="2400" dirty="0" smtClean="0"/>
              <a:t>, </a:t>
            </a:r>
            <a:r>
              <a:rPr lang="ru-RU" sz="2400" dirty="0" smtClean="0"/>
              <a:t>и соответственно создать на языке программирования математическую модель не составит труда. Можно написать программ самому</a:t>
            </a:r>
            <a:r>
              <a:rPr lang="en-US" sz="2400" dirty="0" smtClean="0"/>
              <a:t>, </a:t>
            </a:r>
            <a:r>
              <a:rPr lang="ru-RU" sz="2400" dirty="0" smtClean="0"/>
              <a:t>а можно воспользоваться программами других людей</a:t>
            </a:r>
            <a:r>
              <a:rPr lang="en-US" sz="2400" dirty="0" smtClean="0"/>
              <a:t>, </a:t>
            </a:r>
            <a:r>
              <a:rPr lang="ru-RU" sz="2400" dirty="0" smtClean="0"/>
              <a:t>которые вероятнее всего уже написали программу для разработки и реализации данной математической модели.</a:t>
            </a:r>
            <a:br>
              <a:rPr lang="ru-RU" sz="2400" dirty="0" smtClean="0"/>
            </a:br>
            <a:r>
              <a:rPr lang="ru-RU" sz="2400" dirty="0" smtClean="0"/>
              <a:t>Отличается от других своей чрезвычайной гибкостью</a:t>
            </a:r>
            <a:r>
              <a:rPr lang="en-US" sz="2400" dirty="0" smtClean="0"/>
              <a:t>, </a:t>
            </a:r>
            <a:r>
              <a:rPr lang="ru-RU" sz="2400" dirty="0" smtClean="0"/>
              <a:t>вы можете </a:t>
            </a:r>
            <a:r>
              <a:rPr lang="ru-RU" sz="2400" dirty="0" err="1" smtClean="0"/>
              <a:t>напсать</a:t>
            </a:r>
            <a:r>
              <a:rPr lang="ru-RU" sz="2400" dirty="0" smtClean="0"/>
              <a:t> программу для разработки любой математической модели и визуально ещё отобразить</a:t>
            </a:r>
            <a:r>
              <a:rPr lang="en-US" sz="2400" dirty="0" smtClean="0"/>
              <a:t>, </a:t>
            </a:r>
            <a:r>
              <a:rPr lang="ru-RU" sz="2400" dirty="0" smtClean="0"/>
              <a:t>как вам надо</a:t>
            </a:r>
            <a:endParaRPr lang="ru-RU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484784"/>
            <a:ext cx="8784976" cy="4231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25306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С точки зрения электронных таблиц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ru-RU" dirty="0"/>
              <a:t>Электронная таблица — компьютерная программа, позволяющая проводить вычисления с данными, представленными в виде двумерных массивов, имитирующих бумажные таблицы. </a:t>
            </a:r>
            <a:r>
              <a:rPr lang="ru-RU" dirty="0" smtClean="0"/>
              <a:t>По определению понятно что электронные таблицы в основном используются под массивы данных, но они также могут использоваться и для реализации математических моделей</a:t>
            </a:r>
            <a:r>
              <a:rPr lang="en-US" dirty="0" smtClean="0"/>
              <a:t>,</a:t>
            </a:r>
            <a:r>
              <a:rPr lang="ru-RU" dirty="0" smtClean="0"/>
              <a:t> например можно составить график по данным таблицы</a:t>
            </a:r>
            <a:r>
              <a:rPr lang="en-US" dirty="0" smtClean="0"/>
              <a:t>, </a:t>
            </a:r>
            <a:r>
              <a:rPr lang="ru-RU" dirty="0" smtClean="0"/>
              <a:t>также имеется возможность продолжения строки и столбца по данной формуле что полезно при составлении математических моделей. Отличается от </a:t>
            </a:r>
            <a:r>
              <a:rPr lang="ru-RU" dirty="0" err="1" smtClean="0"/>
              <a:t>дргих</a:t>
            </a:r>
            <a:r>
              <a:rPr lang="ru-RU" dirty="0" smtClean="0"/>
              <a:t> способом ограниченным функционалом</a:t>
            </a:r>
            <a:r>
              <a:rPr lang="en-US" dirty="0" smtClean="0"/>
              <a:t>, </a:t>
            </a:r>
            <a:r>
              <a:rPr lang="ru-RU" dirty="0" smtClean="0"/>
              <a:t>но несмотря на это все ещё может использоваться не для таких сложных задач.</a:t>
            </a:r>
            <a:endParaRPr lang="ru-RU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63" y="908720"/>
            <a:ext cx="901065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506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Горизонт">
  <a:themeElements>
    <a:clrScheme name="Горизонт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Горизонт">
      <a:maj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Горизонт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40000"/>
              </a:schemeClr>
            </a:gs>
            <a:gs pos="31000">
              <a:schemeClr val="phClr">
                <a:tint val="100000"/>
                <a:shade val="90000"/>
                <a:alpha val="100000"/>
              </a:schemeClr>
            </a:gs>
            <a:gs pos="100000">
              <a:schemeClr val="phClr">
                <a:tint val="100000"/>
                <a:shade val="80000"/>
                <a:alpha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80000"/>
              </a:schemeClr>
            </a:gs>
            <a:gs pos="41000">
              <a:schemeClr val="phClr">
                <a:tint val="100000"/>
                <a:shade val="100000"/>
                <a:alpha val="100000"/>
                <a:satMod val="150000"/>
              </a:schemeClr>
            </a:gs>
            <a:gs pos="100000">
              <a:schemeClr val="phClr">
                <a:tint val="100000"/>
                <a:shade val="65000"/>
                <a:alpha val="100000"/>
              </a:schemeClr>
            </a:gs>
          </a:gsLst>
          <a:path path="circle">
            <a:fillToRect l="50000" t="8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Horizon</Template>
  <TotalTime>23</TotalTime>
  <Words>289</Words>
  <Application>Microsoft Office PowerPoint</Application>
  <PresentationFormat>Экран (4:3)</PresentationFormat>
  <Paragraphs>11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Горизонт</vt:lpstr>
      <vt:lpstr>Математические модели</vt:lpstr>
      <vt:lpstr>Презентация PowerPoint</vt:lpstr>
      <vt:lpstr>С точки зрения математики</vt:lpstr>
      <vt:lpstr>С точки зрения систем компьютерной алгебры</vt:lpstr>
      <vt:lpstr>С точки зрения языков программирования </vt:lpstr>
      <vt:lpstr>С точки зрения электронных таблиц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Математические модели</dc:title>
  <dc:creator>Артём</dc:creator>
  <cp:lastModifiedBy>D!akov RePack</cp:lastModifiedBy>
  <cp:revision>4</cp:revision>
  <dcterms:created xsi:type="dcterms:W3CDTF">2022-12-02T12:20:31Z</dcterms:created>
  <dcterms:modified xsi:type="dcterms:W3CDTF">2022-12-02T12:53:51Z</dcterms:modified>
</cp:coreProperties>
</file>